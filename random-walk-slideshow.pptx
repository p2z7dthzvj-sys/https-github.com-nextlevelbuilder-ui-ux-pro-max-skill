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97280"/>
            <a:ext cx="54864" cy="466344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74320"/>
            <a:ext cx="7750443" cy="16459"/>
          </a:xfrm>
          <a:prstGeom prst="rect">
            <a:avLst/>
          </a:prstGeom>
          <a:solidFill>
            <a:srgbClr val="C8922A">
              <a:alpha val="435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0080"/>
            <a:ext cx="5418007" cy="16459"/>
          </a:xfrm>
          <a:prstGeom prst="rect">
            <a:avLst/>
          </a:prstGeom>
          <a:solidFill>
            <a:srgbClr val="C8922A">
              <a:alpha val="71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8371604" cy="16459"/>
          </a:xfrm>
          <a:prstGeom prst="rect">
            <a:avLst/>
          </a:prstGeom>
          <a:solidFill>
            <a:srgbClr val="C8922A">
              <a:alpha val="134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9368262" cy="16459"/>
          </a:xfrm>
          <a:prstGeom prst="rect">
            <a:avLst/>
          </a:prstGeom>
          <a:solidFill>
            <a:srgbClr val="C8922A">
              <a:alpha val="521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6358237" cy="16459"/>
          </a:xfrm>
          <a:prstGeom prst="rect">
            <a:avLst/>
          </a:prstGeom>
          <a:solidFill>
            <a:srgbClr val="C8922A">
              <a:alpha val="441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03120"/>
            <a:ext cx="5057057" cy="16459"/>
          </a:xfrm>
          <a:prstGeom prst="rect">
            <a:avLst/>
          </a:prstGeom>
          <a:solidFill>
            <a:srgbClr val="C8922A">
              <a:alpha val="1107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3827451" cy="16459"/>
          </a:xfrm>
          <a:prstGeom prst="rect">
            <a:avLst/>
          </a:prstGeom>
          <a:solidFill>
            <a:srgbClr val="C8922A">
              <a:alpha val="678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7817380" cy="16459"/>
          </a:xfrm>
          <a:prstGeom prst="rect">
            <a:avLst/>
          </a:prstGeom>
          <a:solidFill>
            <a:srgbClr val="C8922A">
              <a:alpha val="1162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200400"/>
            <a:ext cx="5068596" cy="16459"/>
          </a:xfrm>
          <a:prstGeom prst="rect">
            <a:avLst/>
          </a:prstGeom>
          <a:solidFill>
            <a:srgbClr val="C8922A">
              <a:alpha val="1224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566160"/>
            <a:ext cx="8838602" cy="16459"/>
          </a:xfrm>
          <a:prstGeom prst="rect">
            <a:avLst/>
          </a:prstGeom>
          <a:solidFill>
            <a:srgbClr val="C8922A">
              <a:alpha val="409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8815487" cy="16459"/>
          </a:xfrm>
          <a:prstGeom prst="rect">
            <a:avLst/>
          </a:prstGeom>
          <a:solidFill>
            <a:srgbClr val="C8922A">
              <a:alpha val="1377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97680"/>
            <a:ext cx="5835475" cy="16459"/>
          </a:xfrm>
          <a:prstGeom prst="rect">
            <a:avLst/>
          </a:prstGeom>
          <a:solidFill>
            <a:srgbClr val="C8922A">
              <a:alpha val="617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9784529" cy="16459"/>
          </a:xfrm>
          <a:prstGeom prst="rect">
            <a:avLst/>
          </a:prstGeom>
          <a:solidFill>
            <a:srgbClr val="C8922A">
              <a:alpha val="871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4251247" cy="16459"/>
          </a:xfrm>
          <a:prstGeom prst="rect">
            <a:avLst/>
          </a:prstGeom>
          <a:solidFill>
            <a:srgbClr val="C8922A">
              <a:alpha val="535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394960"/>
            <a:ext cx="9082241" cy="16459"/>
          </a:xfrm>
          <a:prstGeom prst="rect">
            <a:avLst/>
          </a:prstGeom>
          <a:solidFill>
            <a:srgbClr val="C8922A">
              <a:alpha val="1245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5760720"/>
            <a:ext cx="8823866" cy="16459"/>
          </a:xfrm>
          <a:prstGeom prst="rect">
            <a:avLst/>
          </a:prstGeom>
          <a:solidFill>
            <a:srgbClr val="C8922A">
              <a:alpha val="1421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6126480"/>
            <a:ext cx="7089888" cy="16459"/>
          </a:xfrm>
          <a:prstGeom prst="rect">
            <a:avLst/>
          </a:prstGeom>
          <a:solidFill>
            <a:srgbClr val="C8922A">
              <a:alpha val="1762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6492240"/>
            <a:ext cx="6080522" cy="16459"/>
          </a:xfrm>
          <a:prstGeom prst="rect">
            <a:avLst/>
          </a:prstGeom>
          <a:solidFill>
            <a:srgbClr val="C8922A">
              <a:alpha val="1172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A7020"/>
                </a:solidFill>
                <a:latin typeface="JetBrains Mono"/>
              </a:rPr>
              <a:t>NYSE · 1973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05030"/>
                </a:solidFill>
                <a:latin typeface="JetBrains Mono"/>
              </a:rPr>
              <a:t>DOW  +0.00    S&amp;P  −0.00    NASDAQ  +0.00    VIX  ??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19456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1">
                <a:solidFill>
                  <a:srgbClr val="ECE5D8"/>
                </a:solidFill>
                <a:latin typeface="Cormorant Garamond"/>
              </a:rPr>
              <a:t>In the beginning
there was noise.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5848"/>
                </a:solidFill>
                <a:latin typeface="Cinzel"/>
              </a:rPr>
              <a:t>A RANDOM WALK DOWN WALL STREET  ·  BURTON G. MALKIEL  ·  1973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1183112" cy="36576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309360"/>
            <a:ext cx="11183112" cy="36576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45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E4B445"/>
                </a:solidFill>
                <a:latin typeface="Cinzel"/>
              </a:rPr>
              <a:t>A RANDOM WALK
DOWN WALL STREET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977639"/>
            <a:ext cx="3959352" cy="18288"/>
          </a:xfrm>
          <a:prstGeom prst="rect">
            <a:avLst/>
          </a:prstGeom>
          <a:solidFill>
            <a:srgbClr val="C8922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0A898"/>
                </a:solidFill>
                <a:latin typeface="Cormorant Garamond"/>
              </a:rPr>
              <a:t>Burton G. Malkiel  ·  1973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9888"/>
                </a:solidFill>
                <a:latin typeface="DM Sans"/>
              </a:rPr>
              <a:t>The book that changed how the world invests.</a:t>
            </a:r>
          </a:p>
        </p:txBody>
      </p:sp>
    </p:spTree>
    <p:bgPr>
      <a:gradFill>
        <a:gsLst>
          <a:gs pos="0">
            <a:srgbClr val="080f1e"/>
          </a:gs>
          <a:gs pos="100000">
            <a:srgbClr val="010206"/>
          </a:gs>
        </a:gsLst>
        <a:lin ang="5400000" scaled="0"/>
      </a:gradFill>
      <a:effectLst/>
    </p:bgPr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97280"/>
            <a:ext cx="54864" cy="466344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7020"/>
                </a:solidFill>
                <a:latin typeface="Cinzel"/>
              </a:rPr>
              <a:t>CHAPTER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801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4B445"/>
                </a:solidFill>
                <a:latin typeface="Cormorant Garamond"/>
              </a:rPr>
              <a:t>The Promise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697480"/>
            <a:ext cx="3959352" cy="18288"/>
          </a:xfrm>
          <a:prstGeom prst="rect">
            <a:avLst/>
          </a:prstGeom>
          <a:solidFill>
            <a:srgbClr val="C8922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880360"/>
            <a:ext cx="9601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1">
                <a:solidFill>
                  <a:srgbClr val="ECE5D8"/>
                </a:solidFill>
                <a:latin typeface="Cormorant Garamond"/>
              </a:rPr>
              <a:t>"Steady long-term returns.
Everyone can win in the market."
Or can they?</a:t>
            </a:r>
          </a:p>
        </p:txBody>
      </p:sp>
      <p:sp>
        <p:nvSpPr>
          <p:cNvPr id="7" name="Oval 6"/>
          <p:cNvSpPr/>
          <p:nvPr/>
        </p:nvSpPr>
        <p:spPr>
          <a:xfrm>
            <a:off x="9875520" y="365760"/>
            <a:ext cx="1645920" cy="1645920"/>
          </a:xfrm>
          <a:prstGeom prst="ellipse">
            <a:avLst/>
          </a:prstGeom>
          <a:solidFill>
            <a:srgbClr val="F0E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5848"/>
                </a:solidFill>
                <a:latin typeface="Cinzel"/>
              </a:rPr>
              <a:t>— The seductive allure of market timing and stock picking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97280"/>
            <a:ext cx="54864" cy="466344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7020"/>
                </a:solidFill>
                <a:latin typeface="Cinzel"/>
              </a:rPr>
              <a:t>CHAPTER 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4B445"/>
                </a:solidFill>
                <a:latin typeface="Cormorant Garamond"/>
              </a:rPr>
              <a:t>The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68880"/>
            <a:ext cx="3959352" cy="18288"/>
          </a:xfrm>
          <a:prstGeom prst="rect">
            <a:avLst/>
          </a:prstGeom>
          <a:solidFill>
            <a:srgbClr val="C8922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4964" y="4133087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3957523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157984" y="3752697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52927" y="3577132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47872" y="3343046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29683" y="3167481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98364" y="2991916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067044" y="3050438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935724" y="3255263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04403" y="3518611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73084" y="3869740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41764" y="4220870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76104" y="4425696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71048" y="3986784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05388" y="3547872"/>
            <a:ext cx="73152" cy="73152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292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0A898"/>
                </a:solidFill>
                <a:latin typeface="Cormorant Garamond"/>
              </a:rPr>
              <a:t>"Technicians see patterns everywhere.
Most patterns are pure chance."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97280"/>
            <a:ext cx="54864" cy="466344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7020"/>
                </a:solidFill>
                <a:latin typeface="Cinzel"/>
              </a:rPr>
              <a:t>THE 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E4B445"/>
                </a:solidFill>
                <a:latin typeface="Cormorant Garamond"/>
              </a:rPr>
              <a:t>The Random Walk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23160"/>
            <a:ext cx="3959352" cy="18288"/>
          </a:xfrm>
          <a:prstGeom prst="rect">
            <a:avLst/>
          </a:prstGeom>
          <a:solidFill>
            <a:srgbClr val="C8922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0725912" cy="9144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3090672"/>
            <a:ext cx="10725912" cy="9144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529584"/>
            <a:ext cx="10725912" cy="9144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968496"/>
            <a:ext cx="10725912" cy="9144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407408"/>
            <a:ext cx="10725912" cy="9144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846320"/>
            <a:ext cx="10725912" cy="9144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5285231"/>
            <a:ext cx="10725912" cy="9144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724144"/>
            <a:ext cx="10725912" cy="9144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6163056"/>
            <a:ext cx="10725912" cy="9144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00200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37559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06240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599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12279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80960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49640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18320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287000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55680" y="2606040"/>
            <a:ext cx="9144" cy="3931920"/>
          </a:xfrm>
          <a:prstGeom prst="rect">
            <a:avLst/>
          </a:prstGeom>
          <a:solidFill>
            <a:srgbClr val="C892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398652"/>
            <a:ext cx="379262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066" y="4252736"/>
            <a:ext cx="27432" cy="319263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0782" y="4043538"/>
            <a:ext cx="439082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36149" y="3861772"/>
            <a:ext cx="27432" cy="390964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49865" y="3786649"/>
            <a:ext cx="418042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54191" y="3738958"/>
            <a:ext cx="27432" cy="122814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967907" y="3728641"/>
            <a:ext cx="330646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4838" y="3738958"/>
            <a:ext cx="27432" cy="6799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98554" y="3701704"/>
            <a:ext cx="326897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611735" y="3685083"/>
            <a:ext cx="27432" cy="60674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25451" y="3484241"/>
            <a:ext cx="332815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44550" y="3310830"/>
            <a:ext cx="27432" cy="37425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958266" y="3446551"/>
            <a:ext cx="397676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42226" y="3310830"/>
            <a:ext cx="27432" cy="298873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55942" y="3469453"/>
            <a:ext cx="342680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84907" y="3356634"/>
            <a:ext cx="27432" cy="253070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98623" y="3547610"/>
            <a:ext cx="434784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9692" y="3356634"/>
            <a:ext cx="27432" cy="409385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33408" y="3705065"/>
            <a:ext cx="425580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45273" y="3671543"/>
            <a:ext cx="27432" cy="94475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58989" y="3450525"/>
            <a:ext cx="498577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43850" y="3256939"/>
            <a:ext cx="27432" cy="414604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57566" y="3147032"/>
            <a:ext cx="477036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520887" y="3064557"/>
            <a:ext cx="27432" cy="192381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534603" y="2876096"/>
            <a:ext cx="346421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867308" y="2715067"/>
            <a:ext cx="27432" cy="349490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881024" y="2845884"/>
            <a:ext cx="376455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43764" y="2715067"/>
            <a:ext cx="27432" cy="289065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57480" y="3027724"/>
            <a:ext cx="353091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96855" y="3004133"/>
            <a:ext cx="27432" cy="74615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610571" y="3006692"/>
            <a:ext cx="436884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033739" y="2962068"/>
            <a:ext cx="27432" cy="116679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47455" y="2793198"/>
            <a:ext cx="420211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453951" y="2651760"/>
            <a:ext cx="27432" cy="310308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467667" y="2638044"/>
            <a:ext cx="330939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84891" y="2651760"/>
            <a:ext cx="27432" cy="0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98607" y="2638044"/>
            <a:ext cx="444471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29362" y="2651760"/>
            <a:ext cx="27432" cy="0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243078" y="2677162"/>
            <a:ext cx="377491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606853" y="2651760"/>
            <a:ext cx="27432" cy="78237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620569" y="2677162"/>
            <a:ext cx="402918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09772" y="2651760"/>
            <a:ext cx="27432" cy="78237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023488" y="2729024"/>
            <a:ext cx="465316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475088" y="2651760"/>
            <a:ext cx="27432" cy="181960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488804" y="2854031"/>
            <a:ext cx="364680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839768" y="2833720"/>
            <a:ext cx="27432" cy="68053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853484" y="3059570"/>
            <a:ext cx="416087" cy="27432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255856" y="2901773"/>
            <a:ext cx="27432" cy="343025"/>
          </a:xfrm>
          <a:prstGeom prst="rect">
            <a:avLst/>
          </a:prstGeom>
          <a:solidFill>
            <a:srgbClr val="52A46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4400" y="53949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A898"/>
                </a:solidFill>
                <a:latin typeface="DM Sans"/>
              </a:rPr>
              <a:t>Each step is independent.
Past price tells you nothing about tomorrow.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97280"/>
            <a:ext cx="54864" cy="466344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7020"/>
                </a:solidFill>
                <a:latin typeface="Cinzel"/>
              </a:rPr>
              <a:t>FAIR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4B445"/>
                </a:solidFill>
                <a:latin typeface="Cormorant Garamond"/>
              </a:rPr>
              <a:t>The Coin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23160"/>
            <a:ext cx="3959352" cy="18288"/>
          </a:xfrm>
          <a:prstGeom prst="rect">
            <a:avLst/>
          </a:prstGeom>
          <a:solidFill>
            <a:srgbClr val="C8922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937760" y="2651760"/>
            <a:ext cx="2286000" cy="2286000"/>
          </a:xfrm>
          <a:prstGeom prst="ellipse">
            <a:avLst/>
          </a:prstGeom>
          <a:solidFill>
            <a:srgbClr val="C8922A"/>
          </a:solidFill>
          <a:ln w="38100">
            <a:solidFill>
              <a:srgbClr val="E4B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74320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E4B445"/>
                </a:solidFill>
                <a:latin typeface="Cinzel"/>
              </a:rPr>
              <a:t>$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0A898"/>
                </a:solidFill>
                <a:latin typeface="Cormorant Garamond"/>
              </a:rPr>
              <a:t>H E A D S   ·   T A I L S
Up   ·   Down
50% ·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5848"/>
                </a:solidFill>
                <a:latin typeface="Cinzel"/>
              </a:rPr>
              <a:t>"The market is a fair coin — unknowable in advance."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97280"/>
            <a:ext cx="54864" cy="466344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7020"/>
                </a:solidFill>
                <a:latin typeface="Cinzel"/>
              </a:rPr>
              <a:t>THE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4B445"/>
                </a:solidFill>
                <a:latin typeface="Cormorant Garamond"/>
              </a:rPr>
              <a:t>The Monkey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23160"/>
            <a:ext cx="3959352" cy="18288"/>
          </a:xfrm>
          <a:prstGeom prst="rect">
            <a:avLst/>
          </a:prstGeom>
          <a:solidFill>
            <a:srgbClr val="C8922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18888" y="2834640"/>
            <a:ext cx="2560320" cy="2560320"/>
          </a:xfrm>
          <a:prstGeom prst="ellipse">
            <a:avLst/>
          </a:prstGeom>
          <a:solidFill>
            <a:srgbClr val="60101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93208" y="3108960"/>
            <a:ext cx="2011680" cy="2011680"/>
          </a:xfrm>
          <a:prstGeom prst="ellipse">
            <a:avLst/>
          </a:prstGeom>
          <a:solidFill>
            <a:srgbClr val="20502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367528" y="3383280"/>
            <a:ext cx="1463040" cy="1463040"/>
          </a:xfrm>
          <a:prstGeom prst="ellipse">
            <a:avLst/>
          </a:prstGeom>
          <a:solidFill>
            <a:srgbClr val="60101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41848" y="3657600"/>
            <a:ext cx="914400" cy="914400"/>
          </a:xfrm>
          <a:prstGeom prst="ellipse">
            <a:avLst/>
          </a:prstGeom>
          <a:solidFill>
            <a:srgbClr val="20502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97880" y="3913632"/>
            <a:ext cx="402336" cy="402336"/>
          </a:xfrm>
          <a:prstGeom prst="ellipse">
            <a:avLst/>
          </a:prstGeom>
          <a:solidFill>
            <a:srgbClr val="D4A020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9904" y="2743200"/>
            <a:ext cx="18288" cy="1371600"/>
          </a:xfrm>
          <a:prstGeom prst="rect">
            <a:avLst/>
          </a:prstGeom>
          <a:solidFill>
            <a:srgbClr val="ECE5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0A898"/>
                </a:solidFill>
                <a:latin typeface="Cormorant Garamond"/>
              </a:rPr>
              <a:t>"A blindfolded monkey throwing darts
at a stock page does as well as the experts."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5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97280"/>
            <a:ext cx="54864" cy="466344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82929" y="4085169"/>
            <a:ext cx="774739" cy="774739"/>
          </a:xfrm>
          <a:prstGeom prst="ellipse">
            <a:avLst/>
          </a:prstGeom>
          <a:solidFill>
            <a:srgbClr val="F65B0E">
              <a:alpha val="5471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04847" y="4586514"/>
            <a:ext cx="369573" cy="369573"/>
          </a:xfrm>
          <a:prstGeom prst="ellipse">
            <a:avLst/>
          </a:prstGeom>
          <a:solidFill>
            <a:srgbClr val="E55C0F">
              <a:alpha val="831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735984" y="3859244"/>
            <a:ext cx="284877" cy="284877"/>
          </a:xfrm>
          <a:prstGeom prst="ellipse">
            <a:avLst/>
          </a:prstGeom>
          <a:solidFill>
            <a:srgbClr val="D7581B">
              <a:alpha val="120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13345" y="4927470"/>
            <a:ext cx="819119" cy="819119"/>
          </a:xfrm>
          <a:prstGeom prst="ellipse">
            <a:avLst/>
          </a:prstGeom>
          <a:solidFill>
            <a:srgbClr val="FC7F0F">
              <a:alpha val="124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88635" y="4556336"/>
            <a:ext cx="686998" cy="686998"/>
          </a:xfrm>
          <a:prstGeom prst="ellipse">
            <a:avLst/>
          </a:prstGeom>
          <a:solidFill>
            <a:srgbClr val="DF6512">
              <a:alpha val="713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48031" y="4866719"/>
            <a:ext cx="858262" cy="858262"/>
          </a:xfrm>
          <a:prstGeom prst="ellipse">
            <a:avLst/>
          </a:prstGeom>
          <a:solidFill>
            <a:srgbClr val="FE7915">
              <a:alpha val="1148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74578" y="4121515"/>
            <a:ext cx="598675" cy="598675"/>
          </a:xfrm>
          <a:prstGeom prst="ellipse">
            <a:avLst/>
          </a:prstGeom>
          <a:solidFill>
            <a:srgbClr val="D15C14">
              <a:alpha val="65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42878" y="3701983"/>
            <a:ext cx="563824" cy="563824"/>
          </a:xfrm>
          <a:prstGeom prst="ellipse">
            <a:avLst/>
          </a:prstGeom>
          <a:solidFill>
            <a:srgbClr val="CF6D0E">
              <a:alpha val="635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80454" y="2355345"/>
            <a:ext cx="327922" cy="327922"/>
          </a:xfrm>
          <a:prstGeom prst="ellipse">
            <a:avLst/>
          </a:prstGeom>
          <a:solidFill>
            <a:srgbClr val="EB8911">
              <a:alpha val="11188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761508" y="350031"/>
            <a:ext cx="378009" cy="378009"/>
          </a:xfrm>
          <a:prstGeom prst="ellipse">
            <a:avLst/>
          </a:prstGeom>
          <a:solidFill>
            <a:srgbClr val="F48216">
              <a:alpha val="55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6488" y="5132290"/>
            <a:ext cx="922587" cy="922587"/>
          </a:xfrm>
          <a:prstGeom prst="ellipse">
            <a:avLst/>
          </a:prstGeom>
          <a:solidFill>
            <a:srgbClr val="F45C1B">
              <a:alpha val="774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23462" y="621269"/>
            <a:ext cx="984847" cy="984847"/>
          </a:xfrm>
          <a:prstGeom prst="ellipse">
            <a:avLst/>
          </a:prstGeom>
          <a:solidFill>
            <a:srgbClr val="E97B0E">
              <a:alpha val="1017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21769" y="3627851"/>
            <a:ext cx="537192" cy="537192"/>
          </a:xfrm>
          <a:prstGeom prst="ellipse">
            <a:avLst/>
          </a:prstGeom>
          <a:solidFill>
            <a:srgbClr val="F0640F">
              <a:alpha val="564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30921" y="742419"/>
            <a:ext cx="439319" cy="439319"/>
          </a:xfrm>
          <a:prstGeom prst="ellipse">
            <a:avLst/>
          </a:prstGeom>
          <a:solidFill>
            <a:srgbClr val="CB7615">
              <a:alpha val="943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7020"/>
                </a:solidFill>
                <a:latin typeface="Cinzel"/>
              </a:rPr>
              <a:t>HISTORICAL MANIA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4B445"/>
                </a:solidFill>
                <a:latin typeface="Cormorant Garamond"/>
              </a:rPr>
              <a:t>Tulip Mania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423160"/>
            <a:ext cx="3959352" cy="18288"/>
          </a:xfrm>
          <a:prstGeom prst="rect">
            <a:avLst/>
          </a:prstGeom>
          <a:solidFill>
            <a:srgbClr val="C8922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95728" y="320040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95728" y="384048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0" y="3474720"/>
            <a:ext cx="256032" cy="365760"/>
          </a:xfrm>
          <a:prstGeom prst="rect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67328" y="265176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67328" y="457200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0" y="2926080"/>
            <a:ext cx="256032" cy="1645919"/>
          </a:xfrm>
          <a:prstGeom prst="rect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38928" y="201168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8928" y="530352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0" y="2286000"/>
            <a:ext cx="256032" cy="3017520"/>
          </a:xfrm>
          <a:prstGeom prst="rect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10528" y="137160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10528" y="576072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1645920"/>
            <a:ext cx="256032" cy="4114800"/>
          </a:xfrm>
          <a:prstGeom prst="rect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82127" y="292608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82127" y="502920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3200400"/>
            <a:ext cx="256032" cy="1828800"/>
          </a:xfrm>
          <a:prstGeom prst="rect">
            <a:avLst/>
          </a:prstGeom>
          <a:solidFill>
            <a:srgbClr val="C0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53728" y="384048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53728" y="457200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44000" y="4114800"/>
            <a:ext cx="256032" cy="457200"/>
          </a:xfrm>
          <a:prstGeom prst="rect">
            <a:avLst/>
          </a:prstGeom>
          <a:solidFill>
            <a:srgbClr val="C0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51007" y="320040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51007" y="5486400"/>
            <a:ext cx="36576" cy="274320"/>
          </a:xfrm>
          <a:prstGeom prst="rect">
            <a:avLst/>
          </a:prstGeom>
          <a:solidFill>
            <a:srgbClr val="B0A89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41280" y="3474720"/>
            <a:ext cx="256032" cy="2011680"/>
          </a:xfrm>
          <a:prstGeom prst="rect">
            <a:avLst/>
          </a:prstGeom>
          <a:solidFill>
            <a:srgbClr val="C03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30352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0A898"/>
                </a:solidFill>
                <a:latin typeface="Cormorant Garamond"/>
              </a:rPr>
              <a:t>"When everyone believes prices can only rise,
that is precisely when they fall."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97280"/>
            <a:ext cx="54864" cy="466344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A7020"/>
                </a:solidFill>
                <a:latin typeface="Cinzel"/>
              </a:rPr>
              <a:t>MODERN MANIAS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E4B445"/>
                </a:solidFill>
                <a:latin typeface="Cormorant Garamond"/>
              </a:rPr>
              <a:t>The Bubble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23160"/>
            <a:ext cx="3959352" cy="18288"/>
          </a:xfrm>
          <a:prstGeom prst="rect">
            <a:avLst/>
          </a:prstGeom>
          <a:solidFill>
            <a:srgbClr val="C8922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468880"/>
            <a:ext cx="3291840" cy="3291840"/>
          </a:xfrm>
          <a:prstGeom prst="ellipse">
            <a:avLst/>
          </a:prstGeom>
          <a:solidFill>
            <a:srgbClr val="284888">
              <a:alpha val="55000"/>
            </a:srgbClr>
          </a:solidFill>
          <a:ln w="19050">
            <a:solidFill>
              <a:srgbClr val="467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74904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CE5D8"/>
                </a:solidFill>
                <a:latin typeface="JetBrains Mono"/>
              </a:rPr>
              <a:t>DOTCOM
1999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1828800"/>
            <a:ext cx="4023360" cy="4023360"/>
          </a:xfrm>
          <a:prstGeom prst="ellipse">
            <a:avLst/>
          </a:prstGeom>
          <a:solidFill>
            <a:srgbClr val="482820">
              <a:alpha val="55000"/>
            </a:srgbClr>
          </a:solidFill>
          <a:ln w="19050">
            <a:solidFill>
              <a:srgbClr val="66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47472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CE5D8"/>
                </a:solidFill>
                <a:latin typeface="JetBrains Mono"/>
              </a:rPr>
              <a:t>HOUSING
2007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3017520"/>
            <a:ext cx="2743200" cy="2743200"/>
          </a:xfrm>
          <a:prstGeom prst="ellipse">
            <a:avLst/>
          </a:prstGeom>
          <a:solidFill>
            <a:srgbClr val="204030">
              <a:alpha val="55000"/>
            </a:srgbClr>
          </a:solidFill>
          <a:ln w="19050">
            <a:solidFill>
              <a:srgbClr val="3E68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02336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CE5D8"/>
                </a:solidFill>
                <a:latin typeface="JetBrains Mono"/>
              </a:rPr>
              <a:t>CRYPTO
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7259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A898"/>
                </a:solidFill>
                <a:latin typeface="DM Sans"/>
              </a:rPr>
              <a:t>Every generation invents a new reason
why this time is different.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05840"/>
            <a:ext cx="11183112" cy="4572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806440"/>
            <a:ext cx="11183112" cy="45720"/>
          </a:xfrm>
          <a:prstGeom prst="rect">
            <a:avLst/>
          </a:prstGeom>
          <a:solidFill>
            <a:srgbClr val="C8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A7020"/>
                </a:solidFill>
                <a:latin typeface="Cinzel"/>
              </a:rPr>
              <a:t>THE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745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1">
                <a:solidFill>
                  <a:srgbClr val="ECE5D8"/>
                </a:solidFill>
                <a:latin typeface="Cormorant Garamond"/>
              </a:rPr>
              <a:t>Buy the market.
Hold it forever.
Pay no one to predict.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617720"/>
            <a:ext cx="3959352" cy="18288"/>
          </a:xfrm>
          <a:prstGeom prst="rect">
            <a:avLst/>
          </a:prstGeom>
          <a:solidFill>
            <a:srgbClr val="C8922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00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A898"/>
                </a:solidFill>
                <a:latin typeface="DM Sans"/>
              </a:rPr>
              <a:t>Index funds. Broad diversification. Time in the market.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2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097280"/>
            <a:ext cx="54864" cy="4663440"/>
          </a:xfrm>
          <a:prstGeom prst="rect">
            <a:avLst/>
          </a:prstGeom>
          <a:solidFill>
            <a:srgbClr val="3A7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2A464"/>
                </a:solidFill>
                <a:latin typeface="Cinzel"/>
              </a:rPr>
              <a:t>THE EIGHTH WONDER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52A464"/>
                </a:solidFill>
                <a:latin typeface="Cormorant Garamond"/>
              </a:rPr>
              <a:t>Compounding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423160"/>
            <a:ext cx="3959352" cy="18288"/>
          </a:xfrm>
          <a:prstGeom prst="rect">
            <a:avLst/>
          </a:prstGeom>
          <a:solidFill>
            <a:srgbClr val="3A724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5897880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9846" y="5877475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2453" y="5855002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865060" y="5830250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27667" y="5802990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590274" y="5772967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52881" y="5739900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15488" y="5703482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78095" y="5663371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040702" y="5619195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403308" y="5570541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65915" y="5516955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128522" y="5457938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91129" y="5392938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3736" y="5321349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16343" y="5242503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78950" y="5155665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1557" y="5060024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4164" y="4954689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666771" y="4838676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29377" y="4710904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91984" y="4570179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4591" y="4415190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17198" y="4244490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79805" y="4056487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42412" y="3849427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05019" y="3621378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67626" y="3370212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30233" y="3093586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292840" y="2788920"/>
            <a:ext cx="91440" cy="91440"/>
          </a:xfrm>
          <a:prstGeom prst="ellipse">
            <a:avLst/>
          </a:prstGeom>
          <a:solidFill>
            <a:srgbClr val="52A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989320"/>
            <a:ext cx="10607040" cy="27432"/>
          </a:xfrm>
          <a:prstGeom prst="rect">
            <a:avLst/>
          </a:prstGeom>
          <a:solidFill>
            <a:srgbClr val="B0A898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2A464"/>
                </a:solidFill>
                <a:latin typeface="JetBrains Mono"/>
              </a:rPr>
              <a:t>$1,000  →  $17,449  in 30 years at 10% p.a.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57784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0A898"/>
                </a:solidFill>
                <a:latin typeface="DM Sans"/>
              </a:rPr>
              <a:t>Time is the only edge the market gives you for free.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37474" y="7231630"/>
            <a:ext cx="4201733" cy="27432"/>
          </a:xfrm>
          <a:prstGeom prst="rect">
            <a:avLst/>
          </a:prstGeom>
          <a:solidFill>
            <a:srgbClr val="C8922A">
              <a:alpha val="48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21576" y="7156836"/>
            <a:ext cx="4392507" cy="27432"/>
          </a:xfrm>
          <a:prstGeom prst="rect">
            <a:avLst/>
          </a:prstGeom>
          <a:solidFill>
            <a:srgbClr val="C8922A">
              <a:alpha val="40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21576" y="7080372"/>
            <a:ext cx="4392507" cy="27432"/>
          </a:xfrm>
          <a:prstGeom prst="rect">
            <a:avLst/>
          </a:prstGeom>
          <a:solidFill>
            <a:srgbClr val="C8922A">
              <a:alpha val="40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37474" y="7005578"/>
            <a:ext cx="4201733" cy="27432"/>
          </a:xfrm>
          <a:prstGeom prst="rect">
            <a:avLst/>
          </a:prstGeom>
          <a:solidFill>
            <a:srgbClr val="C8922A">
              <a:alpha val="48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68575" y="6935725"/>
            <a:ext cx="3828521" cy="27432"/>
          </a:xfrm>
          <a:prstGeom prst="rect">
            <a:avLst/>
          </a:prstGeom>
          <a:solidFill>
            <a:srgbClr val="C8922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3520" y="6873863"/>
            <a:ext cx="3289183" cy="27432"/>
          </a:xfrm>
          <a:prstGeom prst="rect">
            <a:avLst/>
          </a:prstGeom>
          <a:solidFill>
            <a:srgbClr val="C8922A">
              <a:alpha val="71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70344" y="6822698"/>
            <a:ext cx="2607292" cy="27432"/>
          </a:xfrm>
          <a:prstGeom prst="rect">
            <a:avLst/>
          </a:prstGeom>
          <a:solidFill>
            <a:srgbClr val="C8922A">
              <a:alpha val="7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36565" y="6784466"/>
            <a:ext cx="1812647" cy="27432"/>
          </a:xfrm>
          <a:prstGeom prst="rect">
            <a:avLst/>
          </a:prstGeom>
          <a:solidFill>
            <a:srgbClr val="C8922A">
              <a:alpha val="7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09287" y="6760837"/>
            <a:ext cx="939981" cy="27432"/>
          </a:xfrm>
          <a:prstGeom prst="rect">
            <a:avLst/>
          </a:prstGeom>
          <a:solidFill>
            <a:srgbClr val="C8922A">
              <a:alpha val="71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5332" y="6752844"/>
            <a:ext cx="27432" cy="27432"/>
          </a:xfrm>
          <a:prstGeom prst="rect">
            <a:avLst/>
          </a:prstGeom>
          <a:solidFill>
            <a:srgbClr val="C8922A">
              <a:alpha val="5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1377" y="6760837"/>
            <a:ext cx="939981" cy="27432"/>
          </a:xfrm>
          <a:prstGeom prst="rect">
            <a:avLst/>
          </a:prstGeom>
          <a:solidFill>
            <a:srgbClr val="C8922A">
              <a:alpha val="48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4099" y="6784466"/>
            <a:ext cx="1812647" cy="27432"/>
          </a:xfrm>
          <a:prstGeom prst="rect">
            <a:avLst/>
          </a:prstGeom>
          <a:solidFill>
            <a:srgbClr val="C8922A">
              <a:alpha val="40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320" y="6822698"/>
            <a:ext cx="2607292" cy="27432"/>
          </a:xfrm>
          <a:prstGeom prst="rect">
            <a:avLst/>
          </a:prstGeom>
          <a:solidFill>
            <a:srgbClr val="C8922A">
              <a:alpha val="4097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7144" y="6873863"/>
            <a:ext cx="3289183" cy="27432"/>
          </a:xfrm>
          <a:prstGeom prst="rect">
            <a:avLst/>
          </a:prstGeom>
          <a:solidFill>
            <a:srgbClr val="C8922A">
              <a:alpha val="4824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2089" y="6935725"/>
            <a:ext cx="3828521" cy="27432"/>
          </a:xfrm>
          <a:prstGeom prst="rect">
            <a:avLst/>
          </a:prstGeom>
          <a:solidFill>
            <a:srgbClr val="C8922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33190" y="7005578"/>
            <a:ext cx="4201733" cy="27432"/>
          </a:xfrm>
          <a:prstGeom prst="rect">
            <a:avLst/>
          </a:prstGeom>
          <a:solidFill>
            <a:srgbClr val="C8922A">
              <a:alpha val="7175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49088" y="7080372"/>
            <a:ext cx="4392507" cy="27432"/>
          </a:xfrm>
          <a:prstGeom prst="rect">
            <a:avLst/>
          </a:prstGeom>
          <a:solidFill>
            <a:srgbClr val="C8922A">
              <a:alpha val="7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9088" y="7156836"/>
            <a:ext cx="4392507" cy="27432"/>
          </a:xfrm>
          <a:prstGeom prst="rect">
            <a:avLst/>
          </a:prstGeom>
          <a:solidFill>
            <a:srgbClr val="C8922A">
              <a:alpha val="790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C8922A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solidFill>
            <a:srgbClr val="C8922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164592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1">
                <a:solidFill>
                  <a:srgbClr val="E4B445"/>
                </a:solidFill>
                <a:latin typeface="Cormorant Garamond"/>
              </a:rPr>
              <a:t>Walk.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840480"/>
            <a:ext cx="10360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ECE5D8"/>
                </a:solidFill>
                <a:latin typeface="Cormorant Garamond"/>
              </a:rPr>
              <a:t>"The stock market is a random walk.
But the long walk upward belongs to those
who never stopped walking."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32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A7020"/>
                </a:solidFill>
                <a:latin typeface="Cinzel"/>
              </a:rPr>
              <a:t>— Burton G. Malkiel</a:t>
            </a:r>
          </a:p>
        </p:txBody>
      </p:sp>
    </p:spTree>
    <p:bgPr>
      <a:gradFill>
        <a:gsLst>
          <a:gs pos="0">
            <a:srgbClr val="100c06"/>
          </a:gs>
          <a:gs pos="100000">
            <a:srgbClr val="010206"/>
          </a:gs>
        </a:gsLst>
        <a:lin ang="5400000" scaled="0"/>
      </a:gradFill>
      <a:effectLst/>
    </p:bgPr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